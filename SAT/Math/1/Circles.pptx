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font" Target="fonts/ProximaNova-regular.fntdata"/><Relationship Id="rId22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21" Type="http://schemas.openxmlformats.org/officeDocument/2006/relationships/font" Target="fonts/OpenSans-italic.fntdata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29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da.io/d/REAL-dSAT-Bootcamp-Tutor-Curriculum_di2evPrgvMf/Targeted-Group-Practice-Guidance_suLiB#_luBzm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da.io/d/REAL-dSAT-Bootcamp-Tutor-Curriculum_di2evPrgvMf/Targeted-Group-Practice-Guidance_suLiB#_luBzm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da.io/d/REAL-dSAT-Bootcamp-Tutor-Curriculum_di2evPrgvMf/Targeted-Group-Practice-Guidance_suLiB#_luBzm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da.io/d/REAL-dSAT-Bootcamp-Tutor-Curriculum_di2evPrgvMf/Targeted-Group-Practice-Guidance_suLiB#_luBzm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c04aa301f_0_0:notes"/>
          <p:cNvSpPr/>
          <p:nvPr>
            <p:ph idx="2" type="sldImg"/>
          </p:nvPr>
        </p:nvSpPr>
        <p:spPr>
          <a:xfrm>
            <a:off x="38128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ac04aa30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Follow “Targeted Group Practice Instructions” guidance </a:t>
            </a:r>
            <a:r>
              <a:rPr b="1" lang="en" u="sng">
                <a:solidFill>
                  <a:schemeClr val="hlink"/>
                </a:solidFill>
                <a:hlinkClick r:id="rId2"/>
              </a:rPr>
              <a:t>here</a:t>
            </a:r>
            <a:r>
              <a:rPr b="1"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443d7c83d_0_618:notes"/>
          <p:cNvSpPr/>
          <p:nvPr>
            <p:ph idx="2" type="sldImg"/>
          </p:nvPr>
        </p:nvSpPr>
        <p:spPr>
          <a:xfrm>
            <a:off x="38128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6443d7c83d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Follow “Targeted Group Practice Instructions” guidance </a:t>
            </a:r>
            <a:r>
              <a:rPr b="1" lang="en" u="sng">
                <a:solidFill>
                  <a:schemeClr val="hlink"/>
                </a:solidFill>
                <a:hlinkClick r:id="rId2"/>
              </a:rPr>
              <a:t>here</a:t>
            </a:r>
            <a:r>
              <a:rPr b="1" lang="en">
                <a:solidFill>
                  <a:schemeClr val="dk1"/>
                </a:solidFill>
              </a:rPr>
              <a:t>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2bb856ad8_0_0:notes"/>
          <p:cNvSpPr/>
          <p:nvPr>
            <p:ph idx="2" type="sldImg"/>
          </p:nvPr>
        </p:nvSpPr>
        <p:spPr>
          <a:xfrm>
            <a:off x="38128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2bb856a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Follow “Targeted Group Practice Instructions” guidance </a:t>
            </a:r>
            <a:r>
              <a:rPr b="1" lang="en" u="sng">
                <a:solidFill>
                  <a:schemeClr val="hlink"/>
                </a:solidFill>
                <a:hlinkClick r:id="rId2"/>
              </a:rPr>
              <a:t>here</a:t>
            </a:r>
            <a:r>
              <a:rPr b="1"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2bc97908a_0_3:notes"/>
          <p:cNvSpPr/>
          <p:nvPr>
            <p:ph idx="2" type="sldImg"/>
          </p:nvPr>
        </p:nvSpPr>
        <p:spPr>
          <a:xfrm>
            <a:off x="38128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2bc97908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Follow “Targeted Group Practice Instructions” guidance </a:t>
            </a:r>
            <a:r>
              <a:rPr b="1" lang="en" u="sng">
                <a:solidFill>
                  <a:schemeClr val="hlink"/>
                </a:solidFill>
                <a:hlinkClick r:id="rId2"/>
              </a:rPr>
              <a:t>here</a:t>
            </a:r>
            <a:r>
              <a:rPr b="1"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rtl="0">
              <a:spcBef>
                <a:spcPts val="0"/>
              </a:spcBef>
              <a:spcAft>
                <a:spcPts val="0"/>
              </a:spcAft>
              <a:buSzPts val="4900"/>
              <a:buFont typeface="Proxima Nova"/>
              <a:buNone/>
              <a:defRPr sz="49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900"/>
              <a:buFont typeface="Proxima Nova"/>
              <a:buNone/>
              <a:defRPr sz="49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900"/>
              <a:buFont typeface="Proxima Nova"/>
              <a:buNone/>
              <a:defRPr sz="49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900"/>
              <a:buFont typeface="Proxima Nova"/>
              <a:buNone/>
              <a:defRPr sz="49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900"/>
              <a:buFont typeface="Proxima Nova"/>
              <a:buNone/>
              <a:defRPr sz="49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900"/>
              <a:buFont typeface="Proxima Nova"/>
              <a:buNone/>
              <a:defRPr sz="49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900"/>
              <a:buFont typeface="Proxima Nova"/>
              <a:buNone/>
              <a:defRPr sz="49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900"/>
              <a:buFont typeface="Proxima Nova"/>
              <a:buNone/>
              <a:defRPr sz="49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○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■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○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■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○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■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1"/>
          <p:cNvSpPr txBox="1"/>
          <p:nvPr>
            <p:ph type="title"/>
          </p:nvPr>
        </p:nvSpPr>
        <p:spPr>
          <a:xfrm>
            <a:off x="263400" y="1265850"/>
            <a:ext cx="4045200" cy="14823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None/>
              <a:defRPr sz="43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Font typeface="Open Sans"/>
              <a:buNone/>
              <a:defRPr sz="4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Font typeface="Open Sans"/>
              <a:buNone/>
              <a:defRPr sz="4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Font typeface="Open Sans"/>
              <a:buNone/>
              <a:defRPr sz="4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Font typeface="Open Sans"/>
              <a:buNone/>
              <a:defRPr sz="4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Font typeface="Open Sans"/>
              <a:buNone/>
              <a:defRPr sz="4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Font typeface="Open Sans"/>
              <a:buNone/>
              <a:defRPr sz="4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Font typeface="Open Sans"/>
              <a:buNone/>
              <a:defRPr sz="4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Font typeface="Open Sans"/>
              <a:buNone/>
              <a:defRPr sz="4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263400" y="2812142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roxima Nova"/>
              <a:buNone/>
              <a:defRPr sz="21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None/>
              <a:defRPr sz="2100"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None/>
              <a:defRPr sz="2100"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None/>
              <a:defRPr sz="2100"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None/>
              <a:defRPr sz="2100"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None/>
              <a:defRPr sz="2100"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None/>
              <a:defRPr sz="2100"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None/>
              <a:defRPr sz="2100"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None/>
              <a:defRPr sz="21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●"/>
              <a:defRPr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●"/>
              <a:defRPr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●"/>
              <a:defRPr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roxima Nova"/>
              <a:buNone/>
              <a:defRPr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hasCustomPrompt="1" type="title"/>
          </p:nvPr>
        </p:nvSpPr>
        <p:spPr>
          <a:xfrm>
            <a:off x="475500" y="1487125"/>
            <a:ext cx="8222100" cy="1963500"/>
          </a:xfrm>
          <a:prstGeom prst="rect">
            <a:avLst/>
          </a:prstGeom>
        </p:spPr>
        <p:txBody>
          <a:bodyPr anchorCtr="0" anchor="b" bIns="93500" lIns="93500" spcFirstLastPara="1" rIns="93500" wrap="square" tIns="935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00"/>
              <a:buNone/>
              <a:defRPr sz="12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00"/>
              <a:buNone/>
              <a:defRPr sz="12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00"/>
              <a:buNone/>
              <a:defRPr sz="12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00"/>
              <a:buNone/>
              <a:defRPr sz="12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00"/>
              <a:buNone/>
              <a:defRPr sz="12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00"/>
              <a:buNone/>
              <a:defRPr sz="12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00"/>
              <a:buNone/>
              <a:defRPr sz="12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00"/>
              <a:buNone/>
              <a:defRPr sz="12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200"/>
              <a:buNone/>
              <a:defRPr sz="12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2A84EE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3500" lIns="93500" spcFirstLastPara="1" rIns="93500" wrap="square" tIns="935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roxima Nova"/>
              <a:buNone/>
              <a:defRPr sz="3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"/>
              <a:buNone/>
              <a:defRPr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"/>
              <a:buNone/>
              <a:defRPr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"/>
              <a:buNone/>
              <a:defRPr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"/>
              <a:buNone/>
              <a:defRPr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"/>
              <a:buNone/>
              <a:defRPr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"/>
              <a:buNone/>
              <a:defRPr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"/>
              <a:buNone/>
              <a:defRPr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boto"/>
              <a:buNone/>
              <a:defRPr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500" lIns="93500" spcFirstLastPara="1" rIns="93500" wrap="square" tIns="93500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3CE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/>
        </p:nvSpPr>
        <p:spPr>
          <a:xfrm>
            <a:off x="415661" y="369311"/>
            <a:ext cx="8312700" cy="440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75575" lIns="75575" spcFirstLastPara="1" rIns="75575" wrap="square" tIns="7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0" name="Google Shape;110;p25"/>
          <p:cNvSpPr txBox="1"/>
          <p:nvPr/>
        </p:nvSpPr>
        <p:spPr>
          <a:xfrm>
            <a:off x="1235325" y="1094875"/>
            <a:ext cx="6673500" cy="23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575" lIns="75575" spcFirstLastPara="1" rIns="75575" wrap="square" tIns="7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GEOMETRY &amp; TRIGONOMETRY</a:t>
            </a:r>
            <a:endParaRPr i="1"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3CE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/>
        </p:nvSpPr>
        <p:spPr>
          <a:xfrm>
            <a:off x="415636" y="302559"/>
            <a:ext cx="8312700" cy="45384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575" lIns="75575" spcFirstLastPara="1" rIns="75575" wrap="square" tIns="7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6" name="Google Shape;116;p26"/>
          <p:cNvSpPr txBox="1"/>
          <p:nvPr/>
        </p:nvSpPr>
        <p:spPr>
          <a:xfrm>
            <a:off x="415636" y="286561"/>
            <a:ext cx="8312700" cy="75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75575" lIns="75575" spcFirstLastPara="1" rIns="75575" wrap="square" tIns="7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7" name="Google Shape;117;p26"/>
          <p:cNvSpPr txBox="1"/>
          <p:nvPr/>
        </p:nvSpPr>
        <p:spPr>
          <a:xfrm>
            <a:off x="415636" y="297381"/>
            <a:ext cx="83127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575" lIns="75575" spcFirstLastPara="1" rIns="75575" wrap="square" tIns="7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FOCUS SKILL #4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721091" y="1341364"/>
            <a:ext cx="770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575" lIns="75575" spcFirstLastPara="1" rIns="75575" wrap="square" tIns="755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CIRCLES</a:t>
            </a:r>
            <a:endParaRPr b="1" i="1" sz="4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3CE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/>
        </p:nvSpPr>
        <p:spPr>
          <a:xfrm>
            <a:off x="415636" y="302559"/>
            <a:ext cx="8312700" cy="45384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575" lIns="75575" spcFirstLastPara="1" rIns="75575" wrap="square" tIns="7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4" name="Google Shape;124;p27"/>
          <p:cNvSpPr txBox="1"/>
          <p:nvPr/>
        </p:nvSpPr>
        <p:spPr>
          <a:xfrm>
            <a:off x="415636" y="286561"/>
            <a:ext cx="8312700" cy="75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75575" lIns="75575" spcFirstLastPara="1" rIns="75575" wrap="square" tIns="7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5" name="Google Shape;125;p27"/>
          <p:cNvSpPr txBox="1"/>
          <p:nvPr/>
        </p:nvSpPr>
        <p:spPr>
          <a:xfrm>
            <a:off x="415636" y="297381"/>
            <a:ext cx="83127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575" lIns="75575" spcFirstLastPara="1" rIns="75575" wrap="square" tIns="7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TIPS FOR THIS TYPE OF QUESTION</a:t>
            </a:r>
            <a:endParaRPr b="1" sz="3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721025" y="866407"/>
            <a:ext cx="7701900" cy="3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575" lIns="75575" spcFirstLastPara="1" rIns="75575" wrap="square" tIns="75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Char char="●"/>
            </a:pPr>
            <a:r>
              <a:rPr lang="en" sz="3600">
                <a:latin typeface="Proxima Nova"/>
                <a:ea typeface="Proxima Nova"/>
                <a:cs typeface="Proxima Nova"/>
                <a:sym typeface="Proxima Nova"/>
              </a:rPr>
              <a:t>π radians = 180°</a:t>
            </a:r>
            <a:endParaRPr sz="3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Char char="●"/>
            </a:pPr>
            <a:r>
              <a:rPr lang="en" sz="3600">
                <a:latin typeface="Proxima Nova"/>
                <a:ea typeface="Proxima Nova"/>
                <a:cs typeface="Proxima Nova"/>
                <a:sym typeface="Proxima Nova"/>
              </a:rPr>
              <a:t>The equation of a circle is:</a:t>
            </a:r>
            <a:endParaRPr sz="3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roxima Nova"/>
                <a:ea typeface="Proxima Nova"/>
                <a:cs typeface="Proxima Nova"/>
                <a:sym typeface="Proxima Nova"/>
              </a:rPr>
              <a:t>								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x = x-coordinate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								           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y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  = y-coordinate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									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 = radius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7" name="Google Shape;127;p27" title="Screenshot 2025-03-22 at 4.59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825" y="3486875"/>
            <a:ext cx="3194025" cy="62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3CE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/>
        </p:nvSpPr>
        <p:spPr>
          <a:xfrm>
            <a:off x="415636" y="302559"/>
            <a:ext cx="8312700" cy="45384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575" lIns="75575" spcFirstLastPara="1" rIns="75575" wrap="square" tIns="7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p28"/>
          <p:cNvSpPr txBox="1"/>
          <p:nvPr/>
        </p:nvSpPr>
        <p:spPr>
          <a:xfrm>
            <a:off x="415636" y="286561"/>
            <a:ext cx="8312700" cy="75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75575" lIns="75575" spcFirstLastPara="1" rIns="75575" wrap="square" tIns="7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4" name="Google Shape;134;p28"/>
          <p:cNvSpPr txBox="1"/>
          <p:nvPr/>
        </p:nvSpPr>
        <p:spPr>
          <a:xfrm>
            <a:off x="415636" y="297381"/>
            <a:ext cx="83127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575" lIns="75575" spcFirstLastPara="1" rIns="75575" wrap="square" tIns="7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TIPS FOR THIS TYPE OF QUESTION</a:t>
            </a:r>
            <a:endParaRPr b="1" sz="3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721025" y="191007"/>
            <a:ext cx="7701900" cy="3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575" lIns="75575" spcFirstLastPara="1" rIns="75575" wrap="square" tIns="75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roxima Nova"/>
                <a:ea typeface="Proxima Nova"/>
                <a:cs typeface="Proxima Nova"/>
                <a:sym typeface="Proxima Nova"/>
              </a:rPr>
              <a:t>Tangent lines are perpendicular.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6" name="Google Shape;136;p28" title="Screenshot 2025-03-22 at 5.01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5725" y="2571750"/>
            <a:ext cx="30670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8650" y="2835952"/>
            <a:ext cx="1694101" cy="163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choolhouse Theme">
  <a:themeElements>
    <a:clrScheme name="Material">
      <a:dk1>
        <a:srgbClr val="2A84EE"/>
      </a:dk1>
      <a:lt1>
        <a:srgbClr val="FFFFFF"/>
      </a:lt1>
      <a:dk2>
        <a:srgbClr val="000000"/>
      </a:dk2>
      <a:lt2>
        <a:srgbClr val="434343"/>
      </a:lt2>
      <a:accent1>
        <a:srgbClr val="0258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